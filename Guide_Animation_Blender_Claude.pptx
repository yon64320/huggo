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Guide Animation 3D Blender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200" b="0">
                <a:solidFill>
                  <a:srgbClr val="4ADE80"/>
                </a:solidFill>
                <a:latin typeface="Calibri"/>
              </a:defRPr>
            </a:pPr>
            <a:r>
              <a:t>Reference Prompting pour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383280"/>
            <a:ext cx="301752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400" b="0">
                <a:solidFill>
                  <a:srgbClr val="A0A0A0"/>
                </a:solidFill>
                <a:latin typeface="Calibri"/>
              </a:defRPr>
            </a:pPr>
            <a:r>
              <a:t>Vocabulaire technique • Catalogue d'effets • Templates de prompts</a:t>
            </a:r>
            <a:br/>
            <a:r>
              <a:t>Tout ce qu'il faut pour piloter Blender via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100" b="0">
                <a:solidFill>
                  <a:srgbClr val="A0A0A0"/>
                </a:solidFill>
                <a:latin typeface="Calibri"/>
              </a:defRPr>
            </a:pPr>
            <a:r>
              <a:t>v1.0 —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777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160020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36192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Fondamentaux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7452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0A0A0"/>
                </a:solidFill>
                <a:latin typeface="Calibri"/>
              </a:defRPr>
            </a:pPr>
            <a:r>
              <a:t>Concepts clés, keyframes, transformations, repères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423160"/>
            <a:ext cx="9418320" cy="777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45920" y="256032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496312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Catalogue des effets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83464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0A0A0"/>
                </a:solidFill>
                <a:latin typeface="Calibri"/>
              </a:defRPr>
            </a:pPr>
            <a:r>
              <a:t>Rotations, translations, échelle, shape keys, caméra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383280"/>
            <a:ext cx="9418320" cy="777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45920" y="3520440"/>
            <a:ext cx="502920" cy="5029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456432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Contrôle du mouvement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79476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0A0A0"/>
                </a:solidFill>
                <a:latin typeface="Calibri"/>
              </a:defRPr>
            </a:pPr>
            <a:r>
              <a:t>Interpolation, F-Curves, contraintes, drivers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343400"/>
            <a:ext cx="9418320" cy="777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45920" y="4480560"/>
            <a:ext cx="502920" cy="50292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416552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Prompting efficace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75488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0A0A0"/>
                </a:solidFill>
                <a:latin typeface="Calibri"/>
              </a:defRPr>
            </a:pPr>
            <a:r>
              <a:t>Structure, lexique FR→Blender, templates, anti-patterns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5303520"/>
            <a:ext cx="9418320" cy="777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645920" y="544068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376672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Export Web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715000"/>
            <a:ext cx="7315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A0A0A0"/>
                </a:solidFill>
                <a:latin typeface="Calibri"/>
              </a:defRPr>
            </a:pPr>
            <a:r>
              <a:t>Bake, NLA, GLB, Draco,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1 — FONDAMENTAUX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Concepts clés de l'animation Blender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Keyframe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Point clé dans la timeline qui enregistre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la valeur d'une propriété à un instant donné.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Timeline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Ligne temporelle où sont placés les keyframes.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Unité = frame (image).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371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Frame Rate (FPS)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Nombre d'images/seconde.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24 fps (cinéma), 30 fps (vidéo), 60 fps (jeu).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71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Interpolation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Calcul automatique des valeurs entre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2 keyframes. Contrôlé par les F-Curves.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F-Curve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Courbe dans le Graph Editor qui définit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l'évolution d'une valeur dans le temps.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657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Action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Bloc réutilisable d'animation.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Contient un ensemble de F-Curves.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3657600"/>
            <a:ext cx="2560320" cy="192024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NLA Editor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Non-Linear Animation — empile et mixe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plusieurs Actions comme des clips.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1 — FONDAMENTAUX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Les 3 transformations fondamentales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9260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Location (G)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Déplacement de l'objet dans l'espace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Axes : X (rouge), Y (vert), Z (bleu)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Raccourci : G puis X/Y/Z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Propriété : object.location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"déplace le cube de 2m en Z"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29260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Rotation (R)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Rotation autour d'un axe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Modes : Euler XYZ, Quaternion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Raccourci : R puis X/Y/Z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Propriété : object.rotation_euler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"tourne le cube de 90° en Z"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292608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60A5FA"/>
                </a:solidFill>
              </a:defRPr>
            </a:pPr>
            <a:r>
              <a:t>Scale (S)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Mise à l'échelle (uniforme ou par axe)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Uniform : même valeur X=Y=Z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Raccourci : S puis X/Y/Z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Propriété : object.scale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"double la taille en X"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5486400" cy="1828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Espace Local vs World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Local : axes relatifs à l'orientation de l'objet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World (Global) : axes fixes de la scène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Raccourci : appuyer 2x sur l'axe pour basculer (ex: G Z Z = Z local)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"déplace en Z local" vs "déplace en Z world"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5486400" cy="18288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Pivot Point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3D Cursor : pivot au curseur 3D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Median Point : centre de la sélection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Individual Origins : chaque objet tourne sur lui-même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Active Element : pivot sur l'élément actif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"tourne autour du curseur 3D"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Effets de rotation et pivotement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  <a:gridCol w="3200400"/>
                <a:gridCol w="292608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Propriété Blender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Turntable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continue autour de Z (360° en boucle)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rotation_euler.z + Cycles modifier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"tourne sur lui-même"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Spin rapide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rapide sur X, Y ou 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rotation_euler.[x/y/z] multi-tours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"tourne rapidement en X"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Orbit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Objet tourne autour d'un autre (parent Empty)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Empty parent + rotation_euler.z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"orbite autour du cube"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Tilt / Inclinaison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partielle (ex: 15°) sur X ou Y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rotation_euler.x (valeur partielle)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"s'incline légèrement"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Roll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sur l'axe longitudinal (avant-arrière)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rotation_euler.y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"roule sur lui-même"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pour rotations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"Fais tourner le cube en continu autour de Z, en boucle sur 120 frames"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"Le logo orbite autour du centre à 2m de distance, 1 tour complet en 3 secondes"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"Incline la boîte de 15° en X avec un ease in-out"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Translations / Déplacements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Mouvements de position dans l'espace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47472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Implémentation Blender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Slide / Glissement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Translation linéaire sur un axe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location.[x/y/z] linéaire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"glisse vers la droite"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Float / Lévitation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Oscillation sinusoïdale en 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location.z + Noise/Cycles modifier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"flotte doucement"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Bounce / Rebond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 au sol (Y) avec décélération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location.z + Bounce easing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"rebondit au sol"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Follow Path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Suit une courbe Bézier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Follow Path constraint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"suit le chemin"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Throw / Lancer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Trajectoire parabolique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location.x linéaire + location.z courbe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"lancé en arc de cercle"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Zigzag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Altern. gauche/droite en avançant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location.x oscille + location.y linéaire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"avance en zigzag"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029200"/>
            <a:ext cx="11247120" cy="155448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pour translations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"Fais flotter la sphère à 0.3m d'amplitude en Z, boucle douce sur 60 frames"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"Le cube rebondit 3 fois puis s'arrête, hauteur initiale 2m"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"Déplace l'objet le long de la courbe Bézier en 4 secondes"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Échelle /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Effets de taille et de déformation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926080"/>
                <a:gridCol w="347472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Implémentation Blender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Pulse / Respiration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oscillant uniforme (1.0 → 1.1 → 1.0)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XYZ + Cycles modifier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"pulse doucement"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Pop-in / Apparition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0 → 1 avec overshoot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0→1.1→1.0, Back easing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"apparaît en pop"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Squash &amp; Stretch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Aplatir puis étirer (non-uniforme)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scale.z down + scale.xy up, puis inverse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"s'écrase et rebondit"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Grow / Croissance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progressif de petit à grand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0.1→1.0 linéaire ou ease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"grandit progressivement"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Shrink / Rétrécir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progressif de grand à petit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1.0→0.0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"rétrécit jusqu'à disparaître"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Heartbeat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Double pulse rapide + pause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pulse 2x rapide + hold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"bat comme un cœur"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pour scale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"Le logo pulse de 1.0 à 1.15 en boucle, rythme lent (90 frames par cycle)"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"Pop-in du bouton : scale 0 → 1.2 → 1.0 sur 20 frames, easing Back"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Shape Keys / Morphing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Déformations de maillage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5603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Principe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Les Shape Keys définissent des formes alternatives du maillage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Basis = forme de référence (repos)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Chaque key a une valeur (0.0 → 1.0)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Animer la valeur = morpher entre les formes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Propriété : object.data.shape_keys.key_blocks['Key'].value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Idéal pour : visages, déformations organiques, UI animées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5603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Cas d'usage typiques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Expressions faciales (smile, blink, surprise)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Transformation d'un objet en un autre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Respiration / gonflement organique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Boutons UI qui changent de forme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Liquide qui se déforme</a:t>
            </a:r>
          </a:p>
          <a:p>
            <a:pPr>
              <a:spcAft>
                <a:spcPts val="200"/>
              </a:spcAft>
              <a:defRPr sz="1050">
                <a:solidFill>
                  <a:srgbClr val="4ADE80"/>
                </a:solidFill>
                <a:latin typeface="Calibri"/>
              </a:defRPr>
            </a:pPr>
            <a:r>
              <a:t>Combinable avec scale + rotation pour plus d'impact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pour Shape Keys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"Crée une shape key 'Smile' qui relève les coins de la bouche, anime de 0 à 1 sur 30 frames"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"Morphe la sphère en cube via shape key, transition sur 2 secondes avec ease in-out"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"Ajoute un shape key 'Breathe' qui gonfle le torse, boucle sinusoïdale 0.0→0.6→0.0"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"Anime les shape keys 'Blink_L' et 'Blink_R' en sync : 0→1→0 sur 8 frames, toutes les 3 secondes"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Combinaisons d'effets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Mouvements composés et complexes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3474720"/>
                <a:gridCol w="3749039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Composition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Wobble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noise XYZ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Tremblement léger multi-axes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"tremble légèrement"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Swing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Z oscillante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Balancement comme un pendule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"se balance doucement"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Spiral / Hélice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Z + Translation 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Monte ou descend en spirale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"monte en spirale"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Pendulum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avec pivot décentré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Mouvement de pendule réaliste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"oscille comme un pendule"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Float + Rotate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 Z sinus + Rot 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Lévitation + rotation douce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"flotte et tourne lentement"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Bounce + Squash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 Z bounce + Scale squash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 réaliste cartoon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"rebondit avec squash &amp; stretch"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Orbit + Scale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Empty rotation + Scale pulse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Orbite avec pulsation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"orbite en pulsant"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combinés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"La mascotte flotte en Z (±0.2m, 60 frames) tout en tournant lentement en Z (1 tour / 120 frames)"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"Rebond cartoon : bounce en Z + squash au contact + stretch en l'air, 3 rebonds"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2 — CATALOGUE DES EFFETS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Mouvements de caméra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Effets cinématographiques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560320"/>
                <a:gridCol w="3200400"/>
                <a:gridCol w="402336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Mouvement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Propriété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Y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camera.rotation_euler.z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"panoramique horizontal"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Tilt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X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camera.rotation_euler.x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"panoramique vertical"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Dolly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Translation Z (profondeur)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camera.location.y (vers objet)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"la caméra s'approche"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Truck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Translation X (latéral)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camera.location.x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"travelling latéral"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Crane / Boom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Translation Z (hauteur)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camera.location.z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"montée en grue"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Orbit cam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parentée à Empty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Empty.rotation_euler.z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"caméra tourne autour"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Dolly Zoom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Dolly avant + FOV augmente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location.y + lens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"effet Vertigo"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Rack Focus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Changement DoF focus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dof.focus_distance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"mise au point sur l'arrière-plan"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caméra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"Dolly avant lent vers le produit sur 90 frames, ease out à la fin"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"Orbit caméra 360° autour de la scène, hauteur 1.5m, 4 secondes"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3 — CONTRÔLE DU MOUVEMENT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Interpolation &amp; Easing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Contrôler la vitesse et le ressenti du mouvement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017520"/>
                <a:gridCol w="2926080"/>
                <a:gridCol w="393192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Comportement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Cas d'usage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Constant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Pas de transition (saut instantané)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Switch on/off, visibilité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"change instantanément"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Linear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Vitesse constante (robotique)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Convoyeur, défilement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"vitesse constante"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Bezier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Courbe lisse (défaut Blender)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Mouvement naturel général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"mouvement fluide"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Ease In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Démarrage lent, accélère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Départ d'un objet lourd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"accélère progressivement"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Ease Out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Rapide puis ralentit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Arrivée, atterrissage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"décélère en douceur"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Ease In-Out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Lent → rapide → lent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 plupart des animations UI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"démarrage et fin doux"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Back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Dépasse la cible puis revient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Pop-in, overshoot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"avec un léger dépassement"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Elastic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 élastique autour de la cible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Cartoon, UI ludique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"rebond élastique"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Bounce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Rebonds décroissants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Chute réaliste, balle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"rebondit en arrivant"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3 — CONTRÔLE DU MOUVEMENT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Modificateurs F-Curve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Modifier le comportement des courbes d'animation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2194560" cy="30175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Cycles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Mode REPEAT : boucle identique à l'infini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Mode MIRROR : boucle en aller-retour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Paramètres : Before/After, Count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"en boucle infinie" / "ping-pong"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371600"/>
            <a:ext cx="2194560" cy="30175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Noise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Ajoute une variation aléatoire à la courbe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Paramètres : Scale, Strength, Phase, Depth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Strength faible = tremblement subtil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"avec du bruit" / "tremblement léger"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371600"/>
            <a:ext cx="2194560" cy="30175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87171"/>
                </a:solidFill>
              </a:defRPr>
            </a:pPr>
            <a:r>
              <a:t>Stepped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Discrétise le mouvement (paliers)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Crée un effet stop-motion / saccadé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Paramètres : Step Size, Offset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"style stop-motion" / "mouvement saccadé"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371600"/>
            <a:ext cx="2194560" cy="30175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60A5FA"/>
                </a:solidFill>
              </a:defRPr>
            </a:pPr>
            <a:r>
              <a:t>Limits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Clampe les valeurs min et/ou max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Empêche un objet de dépasser une zone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Utile combiné avec Noise ou Cycles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"limité entre 0 et 2m en Z"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71600"/>
            <a:ext cx="2194560" cy="301752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A0A0A0"/>
                </a:solidFill>
              </a:defRPr>
            </a:pPr>
            <a:r>
              <a:t>Envelope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Module l'amplitude de la courbe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Points de contrôle pour varier l'intensité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Fade in / fade out d'animation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"commence doucement, intensifie, puis calme"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4663440"/>
            <a:ext cx="11430000" cy="192024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F-Curve modifiers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"Rotation Z en boucle infinie, mode mirror (aller-retour)"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"Ajoute un noise modifier sur location XYZ : strength 0.05, scale 3.0 (tremblement subtil)"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"Animation stepped à 8 fps pour un rendu stop-motion"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"Limite la position Z entre 0 et 5m, même avec le bruit"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3 — CONTRÔLE DU MOUVEMENT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Contraintes (Constraints)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Automatiser les relations entre objets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926080"/>
                <a:gridCol w="3017520"/>
                <a:gridCol w="384048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Constraint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Rôle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Paramètres clés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Track To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L'objet regarde toujours la cible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Up axis, Track axis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"regarde toujours le cube"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Follow Path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L'objet suit une courbe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Curve target, Offset, Follow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"suit la courbe Bézier"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Copy Location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Copie la position d'un autre objet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Axes, Influence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"suit la position de X"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Copy Rotation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Copie la rotation d'un autre objet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Axes, Mix mode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"copie la rotation de X"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Copy Scale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Copie l'échelle d'un autre objet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Axes, Power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"même taille que X"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Limit Location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Clampe la position (min/max)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Min/Max XYZ, Owner space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"reste entre 0 et 3m en Z"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Damped Track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Orientation douce vers cible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Track axis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"suit du regard doucement"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Child Of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Parent dynamique (animable)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Target, Influence (keyframable)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"attaché à la main, puis lâché"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Exemples de prompts constraints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"La caméra Track To le personnage en permanence pendant l'orbite"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"L'objet suit le path Bézier sur 120 frames, Follow Curve activé"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"Child Of : l'épée est attachée à la main frame 1→60, puis lâchée frame 61"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3 — CONTRÔLE DU MOUVEMENT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Drivers &amp;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Lier des propriétés entre elles par formule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Principe des Drivers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Un driver remplace l'animation manuelle par une formule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La propriété driven est calculée automatiquement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Variables : propriétés d'autres objets, frame, custom props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Fonctions : sin(), cos(), min(), max(), clamp(), noise.random()</a:t>
            </a:r>
          </a:p>
          <a:p>
            <a:pPr>
              <a:spcAft>
                <a:spcPts val="200"/>
              </a:spcAft>
              <a:defRPr sz="1050">
                <a:solidFill>
                  <a:srgbClr val="FBBF24"/>
                </a:solidFill>
                <a:latin typeface="Calibri"/>
              </a:defRPr>
            </a:pPr>
            <a:r>
              <a:t>Propriété driverée = champ violet dans Blender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Cas d'usage courants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Rotation pilotée par la position (roue qui tourne en avançant)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Scale proportionnel à la distance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Oscillation automatique via sin(frame / speed)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Visibilité conditionnelle (si Z &gt; seuil, visible)</a:t>
            </a:r>
          </a:p>
          <a:p>
            <a:pPr>
              <a:spcAft>
                <a:spcPts val="200"/>
              </a:spcAft>
              <a:defRPr sz="1050">
                <a:solidFill>
                  <a:srgbClr val="4ADE80"/>
                </a:solidFill>
                <a:latin typeface="Calibri"/>
              </a:defRPr>
            </a:pPr>
            <a:r>
              <a:t>Combinable avec constraints pour des rigs complexes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31920"/>
          <a:ext cx="112471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389120"/>
                <a:gridCol w="3657600"/>
              </a:tblGrid>
              <a:tr h="320039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Formule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Effet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Prompt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sin(frame / 30) * 0.5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Oscillation sinusoïdale (période ≈60f)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"oscille en sinus"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var_loc_z * 2.0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= 2x la hauteur 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"grossit quand il monte"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clamp(var, 0.0, 1.0)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Valeur limitée entre 0 et 1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"jamais en dessous de 0"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noise.random() * 0.1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Variation aléatoire à chaque frame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"bruit aléatoire subtil"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-var_rot_z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inverse de la cible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"tourne à l'opposé de X"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760720"/>
            <a:ext cx="11247120" cy="82296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Prompt driver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"Ajoute un driver sur scale.z : sin(frame / 45) * 0.3 + 1.0 (pulsation automatique sans keyframes)"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4 — PROMPTING EFFICACE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Structure d'un prompt optimal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Formuler des instructions claires pour Claude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91440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[OBJET]  +  [ACTION]  +  [AXE/DIRECTION]  +  [VITESSE/DURÉE]  +  [EASING]  +  [BOUCLE]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471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Exemples de prompts bien structurés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8872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2700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Basique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16352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"Fais tourner le cube autour de Z, 1 tour complet en 120 frames, en boucle"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82112"/>
            <a:ext cx="9875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Objet: cube | Action: rotation | Axe: Z | Durée: 120f | Boucle: oui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1188720" cy="32004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2700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Intermédiaire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867912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"Le logo flotte en Z (±0.2m, 60 frames, ease in-out) et tourne lentement en Y (1 tour / 180 frames)"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33672"/>
            <a:ext cx="9875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2 actions | Amplitudes précises | Timings différents | Easing spécifié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937760"/>
            <a:ext cx="11887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2700"/>
          <a:lstStyle/>
          <a:p>
            <a:pPr algn="ctr">
              <a:defRPr sz="1000" b="1">
                <a:solidFill>
                  <a:srgbClr val="1A1A2E"/>
                </a:solidFill>
              </a:defRPr>
            </a:pPr>
            <a:r>
              <a:t>Avancé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19472"/>
            <a:ext cx="9875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"Pop-in du produit : scale 0→1.15→1.0 sur 25 frames (Back easing), puis lévitation Z ±0.1m en boucle, caméra dolly avant lent sur 90 frames"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85232"/>
            <a:ext cx="9875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3 animations séquencées | Valeurs exactes | Easing | Boucle partielle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52160"/>
            <a:ext cx="11247120" cy="731520"/>
          </a:xfrm>
          <a:prstGeom prst="roundRect">
            <a:avLst/>
          </a:prstGeom>
          <a:solidFill>
            <a:srgbClr val="1E3A2E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00">
                <a:solidFill>
                  <a:srgbClr val="4ADE80"/>
                </a:solidFill>
                <a:latin typeface="Calibri"/>
              </a:defRPr>
            </a:pPr>
            <a:r>
              <a:t>ASTUCE : Plus le prompt est précis (valeurs numériques, axes, timing), plus le résultat sera conforme. Évitez les descriptions vagues comme "anime l'objet" ou "fais bouger le truc".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4 — PROMPTING EFFICACE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Lexique FR → Blender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Correspondance termes français → propriétés Blender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371600"/>
          <a:ext cx="566928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Terme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Propriété / Technique Blender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Faire tourner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rotation_euler + Cycles modifier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Flotter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location.z sinusoïdal + Cycles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Rebondir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location.z + Bounce easing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Pulser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XYZ oscillant + Cycles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Trembler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Noise modifier (faible Strength)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Glisser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location.[axe] linéaire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 balancer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rotation.z oscillant (pivot décentré)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Apparaître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0→1 + Back easing (pop-in)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Disparaître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1→0 + Ease In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Grandir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progressif 0.1→1.0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Rétrécir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progressif 1.0→0.0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S'écraser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Squash: scale.z down, scale.xy up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S'étirer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Stretch: scale.z up, scale.xy down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Orbiter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Empty parent + rotation 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Suivre un chemin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Follow Path constraint + courbe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Regarder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Track To constraint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Monter en spirale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rotation Z + location Z linéaire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Zig-zaguer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location.x oscille + location.y avance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Clignoter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visibility keyframes (on/off)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371600"/>
          <a:ext cx="5669280" cy="640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38328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Terme FR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Propriété / Technique Blender</a:t>
                      </a:r>
                    </a:p>
                  </a:txBody>
                  <a:tcPr marL="73152" marR="73152" marT="36576" marB="36576">
                    <a:solidFill>
                      <a:srgbClr val="14142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Se déformer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Shape Keys (morph 0→1)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Changer de forme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Shape Keys interpolation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Respirer (objet)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pulse lent + Cycles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Battre (cœur)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scale double-pulse + hold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Lancer / jeter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loc.x linéaire + loc.z parabolique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Accélérer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Ease In interpolation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Ralentir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Ease Out interpolation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Rebond élastique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Elastic easing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Stop-motion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Stepped modifier (8-12 fps)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En boucle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Cycles modifier (REPEAT)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Aller-retour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Cycles modifier (MIRROR)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Panoramique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rotation Y/Z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Travelling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location X/Y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Zoom avant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dolly (loc.y) ou lens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Plongeante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en hauteur, tilt vers bas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Contre-plongeante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Camera basse, tilt vers haut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Flou dynamique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DOF focus_distance animé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Effet Vertigo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Dolly + FOV inverse simult.</a:t>
                      </a:r>
                    </a:p>
                  </a:txBody>
                  <a:tcPr marL="73152" marR="73152" marT="36576" marB="36576">
                    <a:solidFill>
                      <a:srgbClr val="2A2A4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S'attacher / se détacher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Child Of constraint (influence 0/1)</a:t>
                      </a:r>
                    </a:p>
                  </a:txBody>
                  <a:tcPr marL="73152" marR="73152" marT="36576" marB="36576">
                    <a:solidFill>
                      <a:srgbClr val="22223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4 — PROMPTING EFFICACE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Templates de prompts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Prompts prêts à l'emploi — basiques à intermédiaires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BASIQUES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Turntable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Fais tourner [OBJET] autour de Z, 1 tour complet en [N] frames, en boucle infinie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483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Flottement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084832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Fais flotter [OBJET] en Z : amplitude ±[X]m, cycle de [N] frames, ease in-out, boucle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32304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Bounce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32304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rebondit en Z depuis [H]m, 3 rebonds décroissants, easing Bounce, durée [N]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79776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Pop-in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77977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apparaît : scale 0 → 1.15 → 1.0 sur [N] frames, easing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27248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2724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pulse : scale 1.0 → [X] → 1.0, cycle [N] frames, ease in-out, boucle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INTERMÉDIAIRES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Float + Rotate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023360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flotte en Z (±[X]m, [N]f) et tourne lentement en Y (1 tour / [M] frames)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7083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Orbit +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370832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orbite autour de [CIBLE] à [D]m, 1 tour en [N]f, pulse scale 1.0→[X] en boucle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18304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Follow Path + Tilt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718304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suit [COURBE] en [N] frames, s'incline de [X]° dans les virages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065776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Séquence entrée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06577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slide depuis la gauche (loc.x -5→0, 30f, ease out) puis pop scale (0.8→1.1→1.0, 15f)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13248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60A5FA"/>
                </a:solidFill>
                <a:latin typeface="Calibri"/>
              </a:defRPr>
            </a:pPr>
            <a:r>
              <a:t>Swing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413248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E0E0E0"/>
                </a:solidFill>
                <a:latin typeface="Consolas"/>
              </a:defRPr>
            </a:pPr>
            <a:r>
              <a:t>[OBJET] se balance en Z : rotation ±[X]°, pivot décentré en Y+[D], cycle [N]f, boucle mirror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4 — PROMPTING EFFICACE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Templates de prompts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Prompts avancés et web-ready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AVANCÉS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Dolly Zoom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3736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Caméra dolly avant (loc.y -10→-3, 60f) + augmente focal de 35mm→70mm simult. (effet Vertigo)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Squash &amp; Stretch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21408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[OBJET] tombe en Z (2m→0, 15f ease in), squash au sol (scale .z=0.5 .xy=1.4, 3f), stretch rebond (.z=1.3 .xy=0.8, 5f), retour (1,1,1, 8f)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5456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Character Idle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05456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[PERSONNAGE] : location.z flotte ±0.05m (120f), rotation.z ±2° (90f), scale pulse 1.0→1.02 (60f), le tout en boucle avec des périodes différentes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9504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Camera Reveal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889504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Caméra commence derrière l'objet (Y+5, Z+0.5), orbite 180° en 120f (ease in-out), puis dolly avant léger (20f) pour reveal face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7355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Pendulum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7355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[OBJET] oscille comme un pendule : rotation X ±45°, pivot en Y+2m (origin décentré), cycle 90f, amortissement progressif via envelope modifier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2743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300" b="1">
                <a:solidFill>
                  <a:srgbClr val="4ADE80"/>
                </a:solidFill>
                <a:latin typeface="Calibri"/>
              </a:defRPr>
            </a:pPr>
            <a:r>
              <a:t>WEB-READY (GLB)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Boucle parfaite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60520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[OBJET] rotation Z 360° en [N] frames, frame 1 = frame N+1, Cycles modifier, bake, export GLB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44568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Hero product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544568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[PRODUIT] : turntable Z 360° (120f) + lévitation Z ±0.1m (60f) + scale pulse 1.0→1.05 (80f), boucle parfaite, bake all, export GLB Draco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28616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Logo animé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928616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[LOGO] pop-in (scale 0→1.0, 20f Back) puis idle float+rotate en boucle, total 150f, bake, GLB avec Draco compression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12664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Loading spinner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312664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[OBJET] rotation Z continue 360°/60f, scale pulse 0.9→1.1 (30f mirror), parfaitement loopable, export GLB léger (&lt; 500KB)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96712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1">
                <a:solidFill>
                  <a:srgbClr val="4ADE80"/>
                </a:solidFill>
                <a:latin typeface="Calibri"/>
              </a:defRPr>
            </a:pPr>
            <a:r>
              <a:t>Interactive hover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696712"/>
            <a:ext cx="9601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950" b="0">
                <a:solidFill>
                  <a:srgbClr val="E0E0E0"/>
                </a:solidFill>
                <a:latin typeface="Consolas"/>
              </a:defRPr>
            </a:pPr>
            <a:r>
              <a:t>[OBJET] idle: float Z ±0.05m (90f) + rot Y ±5° (120f), hover state en Action séparée: scale 1.0→1.1 (15f ease out), NLA push, export GLB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4 — PROMPTING EFFICACE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Anti-patterns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À éviter dans vos prompts d'animation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"Anime l'objet"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41732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Trop vague — quel type d'animation ? rotation, translation, scale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"Fais tourner le cube en Z, 1 tour en 120 frames, boucle"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21408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6712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"Fais bouger le truc"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6712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Pas d'objet précis, pas de direction, pas de paramètres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8716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"Déplace la sphère de 3m en X sur 60 frames, ease out"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871216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16936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Oublier l'axe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916936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"Fais tourner" — autour de quel axe ? Résultat imprévisible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36976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Toujours spécifier X, Y ou Z (et local vs world si ambigu)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21024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66744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Pas de 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666744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"Fais rebondir" — combien de frames ? quelle hauteur 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86784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"Rebondit en Z depuis 2m, 3 rebonds, 90 frames total"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370832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16552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Oublier le bake/export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416552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L'animation fonctionne dans Blender mais ne s'exporte pas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3659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"Bake all actions, puis exporte en GLB avec Draco"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5120640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16636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Animations &gt; 5s pour le 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166360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Fichiers GLB trop lourds, temps de chargement excessif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Viser 2-4 secondes max, boucle parfaite, compression Draco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870448"/>
            <a:ext cx="11430000" cy="685800"/>
          </a:xfrm>
          <a:prstGeom prst="roundRect">
            <a:avLst/>
          </a:prstGeom>
          <a:solidFill>
            <a:srgbClr val="2D2D44"/>
          </a:solidFill>
          <a:ln w="635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16168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❌  Trop d'effets simultanés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916168"/>
            <a:ext cx="4114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A0A0A0"/>
                </a:solidFill>
                <a:latin typeface="Calibri"/>
              </a:defRPr>
            </a:pPr>
            <a:r>
              <a:t>Rotation + translation + scale + morph = chaos illésible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236208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000" b="0">
                <a:solidFill>
                  <a:srgbClr val="4ADE80"/>
                </a:solidFill>
                <a:latin typeface="Consolas"/>
              </a:defRPr>
            </a:pPr>
            <a:r>
              <a:t>✅  Max 2-3 effets combinés, avec des rythmes différents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5 — EXPORT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Préparer pour le web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Pipeline d'export animation → GLB</a:t>
            </a:r>
          </a:p>
        </p:txBody>
      </p:sp>
      <p:sp>
        <p:nvSpPr>
          <p:cNvPr id="6" name="Oval 5"/>
          <p:cNvSpPr/>
          <p:nvPr/>
        </p:nvSpPr>
        <p:spPr>
          <a:xfrm>
            <a:off x="320040" y="137160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920240"/>
            <a:ext cx="2743200" cy="27432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Bake All Actions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Menu : Object → Animation → Bake Action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Convertit drivers/constraints/modifiers en keyframes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Nécessaire pour que l'animation s'exporte correctement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"bake toutes les animations"</a:t>
            </a:r>
          </a:p>
        </p:txBody>
      </p:sp>
      <p:sp>
        <p:nvSpPr>
          <p:cNvPr id="8" name="Oval 7"/>
          <p:cNvSpPr/>
          <p:nvPr/>
        </p:nvSpPr>
        <p:spPr>
          <a:xfrm>
            <a:off x="3246120" y="1371600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920240"/>
            <a:ext cx="2743200" cy="27432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60A5FA"/>
                </a:solidFill>
              </a:defRPr>
            </a:pPr>
            <a:r>
              <a:t>NLA Editor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Push Down chaque Action dans le NLA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Permet de gérer plusieurs clips d'animation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Utile pour séparer idle / hover / click states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"push down les actions dans le NLA"</a:t>
            </a:r>
          </a:p>
        </p:txBody>
      </p:sp>
      <p:sp>
        <p:nvSpPr>
          <p:cNvPr id="10" name="Oval 9"/>
          <p:cNvSpPr/>
          <p:nvPr/>
        </p:nvSpPr>
        <p:spPr>
          <a:xfrm>
            <a:off x="6172200" y="1371600"/>
            <a:ext cx="411480" cy="4114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20240"/>
            <a:ext cx="2743200" cy="27432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FBBF24"/>
                </a:solidFill>
              </a:defRPr>
            </a:pPr>
            <a:r>
              <a:t>Export GLB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Format : glTF 2.0 (.glb = binaire compact)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Options : Apply Modifiers ✓, Bake Animation ✓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Sampling Rate : 1 (chaque frame) ou 2 (alléger)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"exporte en GLB, apply modifiers"</a:t>
            </a:r>
          </a:p>
        </p:txBody>
      </p:sp>
      <p:sp>
        <p:nvSpPr>
          <p:cNvPr id="12" name="Oval 11"/>
          <p:cNvSpPr/>
          <p:nvPr/>
        </p:nvSpPr>
        <p:spPr>
          <a:xfrm>
            <a:off x="9098280" y="1371600"/>
            <a:ext cx="411480" cy="41148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/>
          <a:lstStyle/>
          <a:p>
            <a:pPr algn="ctr">
              <a:defRPr sz="16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920240"/>
            <a:ext cx="2743200" cy="2743200"/>
          </a:xfrm>
          <a:prstGeom prst="roundRect">
            <a:avLst/>
          </a:prstGeom>
          <a:solidFill>
            <a:srgbClr val="2D2D44"/>
          </a:solidFill>
          <a:ln w="12700">
            <a:solidFill>
              <a:srgbClr val="3F3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 rIns="137160" bIns="91440"/>
          <a:lstStyle/>
          <a:p>
            <a:pPr algn="ctr">
              <a:spcAft>
                <a:spcPts val="600"/>
              </a:spcAft>
              <a:defRPr sz="1300" b="1">
                <a:solidFill>
                  <a:srgbClr val="4ADE80"/>
                </a:solidFill>
              </a:defRPr>
            </a:pPr>
            <a:r>
              <a:t>Compression Draco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Réduit la taille du fichier de 50-80%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Activer dans les options d'export GLB</a:t>
            </a:r>
          </a:p>
          <a:p>
            <a:pPr>
              <a:spcAft>
                <a:spcPts val="200"/>
              </a:spcAft>
              <a:defRPr sz="1050">
                <a:solidFill>
                  <a:srgbClr val="E0E0E0"/>
                </a:solidFill>
                <a:latin typeface="Calibri"/>
              </a:defRPr>
            </a:pPr>
            <a:r>
              <a:t>Compression level : 6 (bon compromis)</a:t>
            </a:r>
          </a:p>
          <a:p>
            <a:pPr>
              <a:spcAft>
                <a:spcPts val="200"/>
              </a:spcAft>
              <a:defRPr sz="1050">
                <a:solidFill>
                  <a:srgbClr val="60A5FA"/>
                </a:solidFill>
                <a:latin typeface="Calibri"/>
              </a:defRPr>
            </a:pPr>
            <a:r>
              <a:t>Prompt : "active la compression Draco level 6"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89888"/>
            <a:ext cx="365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A0A0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389888"/>
            <a:ext cx="365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A0A0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389888"/>
            <a:ext cx="365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A0A0A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937760"/>
            <a:ext cx="11430000" cy="1645920"/>
          </a:xfrm>
          <a:prstGeom prst="roundRect">
            <a:avLst/>
          </a:prstGeom>
          <a:solidFill>
            <a:srgbClr val="23233A"/>
          </a:solidFill>
          <a:ln w="12700">
            <a:solidFill>
              <a:srgbClr val="3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# Prompt complet d'export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"Bake toutes les animations (Bake Action, Visual Keying activé),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push down dans le NLA,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puis exporte en GLB (.glb) avec :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  - Apply Modifiers activé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  - Bake Animation activé, sampling rate 1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  - Compression Draco level 6</a:t>
            </a:r>
          </a:p>
          <a:p>
            <a:pPr>
              <a:spcAft>
                <a:spcPts val="200"/>
              </a:spcAft>
              <a:defRPr sz="1100">
                <a:solidFill>
                  <a:srgbClr val="4ADE80"/>
                </a:solidFill>
                <a:latin typeface="Consolas"/>
              </a:defRPr>
            </a:pPr>
            <a:r>
              <a:t>   - Fichier : produit_anime.glb"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"/>
            <a:ext cx="2011680" cy="256032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/>
          <a:lstStyle/>
          <a:p>
            <a:pPr algn="ctr">
              <a:defRPr sz="900" b="1">
                <a:solidFill>
                  <a:srgbClr val="0A0A1A"/>
                </a:solidFill>
              </a:defRPr>
            </a:pPr>
            <a:r>
              <a:t>SECTION 5 — EXPORT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Checklist finale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286000" cy="381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A0A0A0"/>
                </a:solidFill>
                <a:latin typeface="Calibri"/>
              </a:defRPr>
            </a:pPr>
            <a:r>
              <a:t>Résumé des bonnes pratiques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8988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Spécifier l'objet par son nom exact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73936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Préciser le type d'animation (rotation, translation, scale...)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9696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5798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Indiquer l'axe (X, Y, Z) et l'espace (local/world)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23744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Donner des valeurs numériques (degrés, mètres, frames)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0779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Spécifier l'easing (Bezier, Ease In-Out, Back, Bounce...)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101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Préciser si l'animation doit boucler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75888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94176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Limiter à 2-3 effets combinés maximum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59936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7822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Viser 2-4 secondes pour les animations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371600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38988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Vérifier le frame range (début et fin)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55648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1773936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S'assurer que frame 1 = frame N+1 pour les boucles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39696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215798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Bake les animations avant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523744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542032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Utiliser le NLA pour les animations multi-states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907792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926080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Exporter en GLB (pas glTF séparé) pour le web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91840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310128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Activer la compression Draco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675888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694176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Tester la boucle dans un viewer GLB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059936"/>
            <a:ext cx="365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400" b="0">
                <a:solidFill>
                  <a:srgbClr val="4ADE80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07822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200" b="0">
                <a:solidFill>
                  <a:srgbClr val="E0E0E0"/>
                </a:solidFill>
                <a:latin typeface="Calibri"/>
              </a:defRPr>
            </a:pPr>
            <a:r>
              <a:t>Vérifier la taille du fichier (&lt; 1MB idéal)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46320"/>
            <a:ext cx="11247120" cy="1645920"/>
          </a:xfrm>
          <a:prstGeom prst="roundRect">
            <a:avLst/>
          </a:prstGeom>
          <a:solidFill>
            <a:srgbClr val="2D2D44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 algn="ctr">
              <a:spcAft>
                <a:spcPts val="800"/>
              </a:spcAft>
              <a:defRPr sz="1400" b="1">
                <a:solidFill>
                  <a:srgbClr val="4ADE80"/>
                </a:solidFill>
              </a:defRPr>
            </a:pPr>
            <a:r>
              <a:t>WORKFLOW RÉSUMÉ</a:t>
            </a:r>
          </a:p>
          <a:p>
            <a:pPr>
              <a:spcAft>
                <a:spcPts val="3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1. Décrire l'animation avec précision (objet + action + axe + timing + easing + boucle)</a:t>
            </a:r>
          </a:p>
          <a:p>
            <a:pPr>
              <a:spcAft>
                <a:spcPts val="3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2. Claude Code génère le script Python Blender</a:t>
            </a:r>
          </a:p>
          <a:p>
            <a:pPr>
              <a:spcAft>
                <a:spcPts val="3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3. Vérifier le résultat dans le viewport (jouer la timeline)</a:t>
            </a:r>
          </a:p>
          <a:p>
            <a:pPr>
              <a:spcAft>
                <a:spcPts val="3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4. Ajuster si nécessaire ("rends le plus lent", "ajoute un ease out", ...)</a:t>
            </a:r>
          </a:p>
          <a:p>
            <a:pPr>
              <a:spcAft>
                <a:spcPts val="300"/>
              </a:spcAft>
              <a:defRPr sz="1100">
                <a:solidFill>
                  <a:srgbClr val="E0E0E0"/>
                </a:solidFill>
                <a:latin typeface="Calibri"/>
              </a:defRPr>
            </a:pPr>
            <a:r>
              <a:t>5. Bake → NLA → Export GLB Draco → Intégrer dans le site web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